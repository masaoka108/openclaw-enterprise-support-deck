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OpenClaw企業導入支援サービス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AIを“試す”から、“業務成果に変える”へ。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515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現場活用・ルール整備・定着支援まで、企業導入を一気通貫で伴走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1部署のPoCから全社展開まで対応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現場活用とガバナンスを両立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2179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OpenClaw Enterprise Enablement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なぜ今、企業はAI導入でつまずくのか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導入初期で止まる企業が多い背景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515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現場が何に使えばよいかわからない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セキュリティ・権限・運用ルールが曖昧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部署ごとにバラバラに試しており全社展開できない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効果測定ができず投資判断が止まる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導入責任者だけが孤立し社内調整が進まない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5303520"/>
            <a:ext cx="9692640" cy="73152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504688"/>
            <a:ext cx="93268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失敗要因はツール性能ではなく、「導入設計」と「定着支援」にある。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OpenClawが提供する価値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企業ごとの業務・権限・ワークフローに合わせて使えるAI活用基盤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515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業務に合わせたアシスタント運用がしやすい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チーム / 役割ごとの活用設計がしやすい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既存業務フローに組み込みやすい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単発利用ではなく継続的な改善運用に向く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5303520"/>
            <a:ext cx="9692640" cy="73152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504688"/>
            <a:ext cx="93268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OpenClawは「高機能なAIツール」ではなく、「企業のAI運用基盤」。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しかし、ツール導入だけでは成果は出ない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企業導入で必要になる設計要素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515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対象業務の選定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利用ルール / 権限設計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部署別ユースケース設計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利用教育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KPI設計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定着 / 改善サイクル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5303520"/>
            <a:ext cx="9692640" cy="73152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504688"/>
            <a:ext cx="93268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だからこそ、導入支援サービスが必要。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サービス全体像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設計・導入・定着・成果化まで一気通貫で支援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515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3243072" cy="3383280"/>
          </a:xfrm>
          <a:prstGeom prst="roundRect">
            <a:avLst>
              <a:gd name="adj" fmla="val 225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1719072"/>
            <a:ext cx="298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1. 診断・設計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296875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現状業務・課題・活用余地・リスクを整理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どこから始めるべきかを明確化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02024" y="1554480"/>
            <a:ext cx="3243072" cy="3383280"/>
          </a:xfrm>
          <a:prstGeom prst="roundRect">
            <a:avLst>
              <a:gd name="adj" fmla="val 2256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0040" y="1719072"/>
            <a:ext cx="298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2. 導入・構築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39184" y="2148840"/>
            <a:ext cx="296875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初期設定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ユースケース設計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運用ルール整備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PoC実施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09688" y="1554480"/>
            <a:ext cx="3243072" cy="3383280"/>
          </a:xfrm>
          <a:prstGeom prst="roundRect">
            <a:avLst>
              <a:gd name="adj" fmla="val 225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37704" y="1719072"/>
            <a:ext cx="298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3. 定着・成果化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46848" y="2148840"/>
            <a:ext cx="296875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研修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活用伴走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KPIモニタリング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改善提案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5303520"/>
            <a:ext cx="9692640" cy="73152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504688"/>
            <a:ext cx="93268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「導入して終わり」ではなく、「使われる状態になるまで」伴走。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支援メニュー詳細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IT導入支援 + 業務設計 + チェンジマネジメントを一体提供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515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AI導入アセスメント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部署別ユースケース設計ワークショップ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セキュリティ / 権限 / 運用ポリシー整備支援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業務フローへの組み込み設計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社内説明資料 / 利用ガイド作成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管理者 / 現場向け研修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KPI設計と効果測定支援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月次レビュー / 改善提案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どんな企業に向いているか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生成AIの試用から本番運用へ進みたい企業向け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515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AI活用を全社で進めたいが、進め方が曖昧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部署単位でAIを使い始めたが、統制が取れていない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情シス / 経営 / 現場の認識を揃えたい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PoC止まりから脱却したい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AI投資を実際の生産性向上につなげたい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949440" y="1600200"/>
            <a:ext cx="3383280" cy="2194560"/>
          </a:xfrm>
          <a:prstGeom prst="roundRect">
            <a:avLst>
              <a:gd name="adj" fmla="val 208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78040" y="18288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補足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78040" y="21488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相性の良い顧客像: 50〜1,000名規模 / SaaS運用が定着 / DX推進体制あり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導入後に得られる成果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便利さの実感ではなく、再現性のある業務成果へ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515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提案書 / 議事録 / レポート作成時間の短縮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社内問い合わせ一次対応の効率化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ナレッジ活用率の向上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AI活用率の可視化と改善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040880" y="1554480"/>
            <a:ext cx="3657600" cy="2880360"/>
          </a:xfrm>
          <a:prstGeom prst="roundRect">
            <a:avLst>
              <a:gd name="adj" fmla="val 1905"/>
            </a:avLst>
          </a:prstGeom>
          <a:solidFill>
            <a:srgbClr val="E0F2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69480" y="1783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主要KPI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269480" y="21488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90日以内アクティブ利用率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098280" y="213055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60%以上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269480" y="28803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重点業務の作業時間削減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098280" y="286207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20〜40%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69480" y="36118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部署別ユースケース定着数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098280" y="359359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3件以上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導入プロセス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最短で始めつつ、段階的に全社展開へ広げる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515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2391156" cy="3383280"/>
          </a:xfrm>
          <a:prstGeom prst="roundRect">
            <a:avLst>
              <a:gd name="adj" fmla="val 30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1719072"/>
            <a:ext cx="21351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1. ヒアリング / 診断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2116836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課題・体制・制約・目的を整理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150108" y="1554480"/>
            <a:ext cx="2391156" cy="3383280"/>
          </a:xfrm>
          <a:prstGeom prst="roundRect">
            <a:avLst>
              <a:gd name="adj" fmla="val 3059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8124" y="1719072"/>
            <a:ext cx="21351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2. 設計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87268" y="2148840"/>
            <a:ext cx="2116836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対象業務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ルール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KPI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推進体制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705856" y="1554480"/>
            <a:ext cx="2391156" cy="3383280"/>
          </a:xfrm>
          <a:prstGeom prst="roundRect">
            <a:avLst>
              <a:gd name="adj" fmla="val 30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33872" y="1719072"/>
            <a:ext cx="21351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3. 初期導入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843016" y="2148840"/>
            <a:ext cx="2116836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設定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研修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試験運用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61604" y="1554480"/>
            <a:ext cx="2391156" cy="3383280"/>
          </a:xfrm>
          <a:prstGeom prst="roundRect">
            <a:avLst>
              <a:gd name="adj" fmla="val 3059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9620" y="1719072"/>
            <a:ext cx="21351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4. 定着支援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98764" y="2148840"/>
            <a:ext cx="2116836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レビュー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改善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追加ユースケース設計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" y="5303520"/>
            <a:ext cx="9692640" cy="73152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504688"/>
            <a:ext cx="93268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最初から全社一斉導入を狙わず、成果の出やすい1部署・1業務から始める。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他社との違い / 選ばれる理由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“AI導入支援”ではなく、“AI活用の事業実装支援”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515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ツール説明で終わらず、業務実装まで踏み込む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現場活用とガバナンスの両立を前提に設計する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部署・権限・業務に合わせて個別最適化する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研修だけでなく、定着 / 改善まで伴走する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「導入したが使われない」を防ぐ支援に強い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提案プラン例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導入しやすさと収益性を両立する4プラン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515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推奨プラン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9601200" cy="658368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1109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Pilot / 部門導入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191109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</a:rPr>
              <a:t>初期50万円 / 月額30万円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191109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1部署・スモールスタート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9601200" cy="658368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3405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Business / 本格運用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7340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</a:rPr>
              <a:t>初期120万円 / 月額70万円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273405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複数部門展開・運用定着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3429000"/>
            <a:ext cx="9601200" cy="658368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55701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Enterprise / 全社導入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355701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</a:rPr>
              <a:t>初期300万円〜 / 月額150万円〜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355701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高セキュリティ・全社標準化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4251960"/>
            <a:ext cx="9601200" cy="658368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37997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個別開発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0" y="437997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</a:rPr>
              <a:t>150万円〜800万円以上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437997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API連携・監査・ワークフロー対応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49440" y="1600200"/>
            <a:ext cx="3383280" cy="2194560"/>
          </a:xfrm>
          <a:prstGeom prst="roundRect">
            <a:avLst>
              <a:gd name="adj" fmla="val 208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18288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補足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78040" y="21488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値引きではなくスコープ調整で提案。Businessを本命として設計。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事業性とクロージング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投資対効果を説明できるAI導入へ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515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通常シナリオでは Year1 売上 7,100万円 / 営業利益 1,338万円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Year3 売上 3.22億円 / 営業利益 1.85億円を想定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黒字化ラインは Business 5社前後、または Business 3社 + Enterprise 1社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</a:rPr>
              <a:t>1チームあたり1〜2名分の工数削減余地が見えれば投資回収を説明可能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5303520"/>
            <a:ext cx="9692640" cy="73152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504688"/>
            <a:ext cx="93268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まずは60分の導入診断ミーティングから。OpenClawを“入れる”ではなく、“成果につなげる”提案を。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MAKE A CHANGE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OpenClaw企業導入支援サービス</dc:title>
  <dc:subject>OpenClaw企業導入支援サービス</dc:subject>
  <dc:creator>OpenClaw marketing subagent</dc:creator>
  <cp:lastModifiedBy>OpenClaw marketing subagent</cp:lastModifiedBy>
  <cp:revision>1</cp:revision>
  <dcterms:created xsi:type="dcterms:W3CDTF">2026-03-17T12:09:49Z</dcterms:created>
  <dcterms:modified xsi:type="dcterms:W3CDTF">2026-03-17T12:09:49Z</dcterms:modified>
</cp:coreProperties>
</file>